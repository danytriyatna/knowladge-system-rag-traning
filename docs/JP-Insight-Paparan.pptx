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Perkenalkan sistem dalam satu kalimat: alat bantu peneliti menemukan, membandingkan, dan menelusuri pengetahuan dari korpus Jurnal Permukiman. Tekankan sejak awal bahwa pembeda utamanya adalah ketertelusuran sumber.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lima hambatan kerja terlebih dulu, lalu tutup dengan poin merah: memakai AI umum justru berbahaya untuk konteks ke-PU-an karena bisa mengarang nomor pasal.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kunci. Sampaikan bahwa aturan ini bukan janji, melainkan sudah menjadi mekanisme di dalam program. Uji nyata: pertanyaan di luar cakupan korpus dijawab 'tidak ditemukan'.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langkah 5 dan kemandirian data pada langkah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Inti tata kelola mutu jawaban. Contoh: 'gedung wajib X' hanya boleh dari peraturan; 'penelitian menemukan Y' hanya dari naskah.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bukti bahwa sistem diuji dengan pertanyaan nyata dan diperbaiki berdasarkan temuan, bukan dibangun lalu ditinggalkan.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Angka diukur langsung dari basis data, bukan perkiraan. Sebutkan bahwa keempat fitur sudah bisa dibuka hari 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Tegaskan bahwa prioritas utama sudah diputuskan: peneliti dan penulis.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Sampaikan bahwa roadmap ini bukan rencana di atas kertas — tahap 1 sudah selesai dan tahap 2 sudah menghasilkan keluaran nyata.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tahap punya tanda keberhasilan yang bisa diperiksa, bukan sekadar 'selesai dikerjakan'.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Pimpinan biasanya menanyakan risiko. Tunjukkan bahwa risiko sudah dipetakan dan ditangani, bukan diabaikan.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meminta keputusan konkret, bukan sekadar tanggapan. Ulangi bahwa sistem sudah beroperasi — ini permintaan arahan untuk melanjutkan, bukan permintaan memulai.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206240" cy="420624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245025"/>
          </a:solidFill>
          <a:ln w="12700">
            <a:solidFill>
              <a:srgbClr val="24502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PENGETAHUAN BIDANG PEKERJAAN UMUM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JP-Insight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101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6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referensi dan pendukung keputusan berbasis korpus Jurnal Permukiman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2245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jawaban wajib punya sumber yang bisa ditelusuri.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Bahan Paparan untuk Pimpinan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 yang sudah kita miliki belum bisa dimanfaatkan kembali secara sistematis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92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 tersebar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naskah terbitan 2008–2025 memuat temuan yang sulit ditemukan kembali saat dibutuhkan.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935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Celah riset tidak terpetakan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246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Penulis kesulitan mengetahui topik apa yang masih terbuka untuk diteliti.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078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 normatif tidak mudah diketahui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389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dan SNI yang relevan untuk suatu topik harus dicari manual satu per satu.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46520" y="18288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465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1792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merujuk aturan lama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2103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Edisi standar yang sudah diperbarui sulit terdeteksi tanpa pemeriksaan menyeluruh.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46520" y="297180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2935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Beban kerja redaksi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246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Penelaahan awal naskah masuk masih sepenuhnya bergantung pada pembacaan manual.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114800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4114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07822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Kecerdasan buatan umum berisiko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438912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bahasa umum dapat mengarang nomor pasal atau nomor standar dengan meyakinkan.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Kelima hal pertama adalah beban kerja. Poin terakhir adalah alasan sistem ini dirancang khusus, bukan memakai AI umum.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 yang membedakan sistem ini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Tidak ada jawaban tanpa sumber.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6E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tidak ada naskah pendukung, sistem menyatakan informasi tidak ditemukan — bukan mengarang jawaban.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245025"/>
          </a:solidFill>
          <a:ln w="12700">
            <a:solidFill>
              <a:srgbClr val="24502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Ditegakkan di kode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370832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sekadar instruksi kepada model bahasa, tetapi pemeriksaan program yang menolak jawaban tak bersumber.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37490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245025"/>
          </a:solidFill>
          <a:ln w="12700">
            <a:solidFill>
              <a:srgbClr val="2450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Sitasi diverifikasi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4370832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Nomor sumber yang tidak menunjuk naskah mana pun digugurkan sebelum jawaban ditampilkan.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374904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245025"/>
          </a:solidFill>
          <a:ln w="12700">
            <a:solidFill>
              <a:srgbClr val="24502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Kutipan dicocokkan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394192" y="4370832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Kutipan yang dikembalikan model diperiksa harus benar-benar ada di teks naskah aslinya.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Kerja Sistem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disusun dari potongan naskah yang benar-benar ada, bukan dari pengetahuan bawaan model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084832" cy="2057400"/>
          </a:xfrm>
          <a:prstGeom prst="roundRect">
            <a:avLst>
              <a:gd name="adj" fmla="val 355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9032" y="230428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99032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Naskah masuk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4015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Unggah manual atau tarik otomatis dari arsip jurnal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2880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07792" y="2103120"/>
            <a:ext cx="2084832" cy="2057400"/>
          </a:xfrm>
          <a:prstGeom prst="roundRect">
            <a:avLst>
              <a:gd name="adj" fmla="val 355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66744" y="230428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66744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035808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Diindeks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3035808" y="34015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dipecah dan diberi representasi numerik di server internal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010912" y="2880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75504" y="2103120"/>
            <a:ext cx="2084832" cy="2057400"/>
          </a:xfrm>
          <a:prstGeom prst="roundRect">
            <a:avLst>
              <a:gd name="adj" fmla="val 355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4456" y="230428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34456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dicocokkan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34015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Pencarian gabungan: makna, kata kunci, dan jalur peraturan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78624" y="2880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43216" y="2103120"/>
            <a:ext cx="2084832" cy="2057400"/>
          </a:xfrm>
          <a:prstGeom prst="roundRect">
            <a:avLst>
              <a:gd name="adj" fmla="val 355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02168" y="230428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202168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571232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disusun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571232" y="34015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bahasa merangkai jawaban hanya dari potongan terpilih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546336" y="2880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710928" y="2103120"/>
            <a:ext cx="2084832" cy="2057400"/>
          </a:xfrm>
          <a:prstGeom prst="roundRect">
            <a:avLst>
              <a:gd name="adj" fmla="val 3556"/>
            </a:avLst>
          </a:prstGeom>
          <a:solidFill>
            <a:srgbClr val="E8F0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469880" y="230428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469880" y="2304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9838944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 diperiksa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9838944" y="340156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tanpa sumber sah ditolak sistem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617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Pengolahan naskah dan pengindeksan berjalan penuh di server internal. Pengiriman ke layanan luar hanya pada tahap penyusunan kalimat jawaban.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5 adalah pengaman yang membedakan sistem ini dari layanan AI umum.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Arsitektur: Dua Lapis Pengetahuan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jenis pengetahuan yang tidak boleh saling menggantikan di dalam jawaban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514600"/>
          </a:xfrm>
          <a:prstGeom prst="roundRect">
            <a:avLst>
              <a:gd name="adj" fmla="val 2909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0312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2140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NORMATIF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4323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“apa yang berlaku”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26080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UU, PP, Peraturan Menteri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 dan pedoman teknis (NSPK)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kewajiban dan persyaratan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828800"/>
            <a:ext cx="5074920" cy="2514600"/>
          </a:xfrm>
          <a:prstGeom prst="roundRect">
            <a:avLst>
              <a:gd name="adj" fmla="val 2909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0" y="210312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2121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 EMPIRIS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432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“apa yang terbukti”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926080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Naskah Jurnal Permukiman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riset dan studi kasus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Menjawab temuan dan bukti lapangan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8F0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 pemisahan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084064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yang mewajibkan hanya boleh bersumber dari lapis normatif; pernyataan temuan hanya dari naskah riset. Kutipan peraturan yang ditemukan di dalam naskah tetap boleh dipakai, tetapi wajib dinyatakan sebagai kutipan.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Bukti Nyata Perbaikan Sistem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Pertanyaan yang sama, sebelum dan sesudah penambahan jalur pencarian peraturan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“Sebutkan peraturan bangunan gedung hijau yang harus ada pada setiap bangunan”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2423160"/>
          </a:xfrm>
          <a:prstGeom prst="roundRect">
            <a:avLst>
              <a:gd name="adj" fmla="val 3019"/>
            </a:avLst>
          </a:prstGeom>
          <a:solidFill>
            <a:srgbClr val="F6EEEC"/>
          </a:solidFill>
          <a:ln w="12700">
            <a:solidFill>
              <a:srgbClr val="F6EE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6974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“Tidak disebutkan peraturan spesifik mengenai bangunan gedung hijau yang wajib ada pada setiap bangunan.”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74904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benar secara jujur, tetapi tidak berguna. Naskah yang memuat jawabannya ada di korpus, namun tidak ditemukan.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2148840"/>
            <a:ext cx="5074920" cy="2423160"/>
          </a:xfrm>
          <a:prstGeom prst="roundRect">
            <a:avLst>
              <a:gd name="adj" fmla="val 3019"/>
            </a:avLst>
          </a:prstGeom>
          <a:solidFill>
            <a:srgbClr val="E8F0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23317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766560" y="269748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“Peraturan Pemerintah Nomor 16 Tahun 2021 mewajibkan penerapan Bangunan Gedung Hijau pada gedung pemerintah dengan luas minimal 5.000 m².”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388620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Disertai sumber naskah yang dapat dibuka dan diperiksa langsung oleh pengguna.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800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Penyebabnya bukan kekurangan data, melainkan cara mencari. Perbaikan dilakukan pada mesin pencarian, bukan dengan melonggarkan aturan sumber.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Kondisi Sistem Saat Ini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angka merupakan hasil pengukuran langsung pada basis data sistem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665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2491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Naskah terindeks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terbitan 2008–2025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07792" y="19202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07792" y="20665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8.589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999232" y="272491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Potongan teks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seluruhnya terindeks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75504" y="19202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75504" y="20665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786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5266944" y="272491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 peraturan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225 nomor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43216" y="19202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43216" y="20665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534656" y="272491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Pernyataan celah riset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59 naskah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710928" y="192024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10928" y="2066544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802368" y="2724912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otomatis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seluruhnya lulus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sudah berjalan di aplikasi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440740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407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3708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jawab bersitasi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46817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percakapan dan mode kajian lintas naskah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46520" y="4407408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46520" y="4407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37083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Peraturan dirujuk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23760" y="468172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Telusuri peraturan, pasal, dan naskah yang merujuknya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248656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0080" y="5248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417320" y="52120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Celah riset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522976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Keterbatasan dan saran lanjutan yang dinyatakan penulis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46520" y="5248656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46520" y="5248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521208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terbitan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55229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Penarikan otomatis naskah baru dari arsip jurnal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yang Diharapkan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yang dituju untuk tiga kelompok pengguna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24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Peneliti dan Penulis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temuan terdahulu beserta sitasinya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temuan antar naskah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 celah riset yang masih terbuka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Mengetahui peraturan yang perlu dirujuk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7830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01168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724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Pengelola Jurnal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200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Penelaahan awal kesesuaian naskah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Pemeriksaan kebaruan terhadap naskah terbit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Usulan calon mitra bestari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rujukan peraturan kedaluwarsa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83080"/>
            <a:ext cx="3566160" cy="3840480"/>
          </a:xfrm>
          <a:prstGeom prst="roundRect">
            <a:avLst>
              <a:gd name="adj" fmla="val 2051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01168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724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Unit Kerja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004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Penelusuran dasar aturan secara cepat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Sintesis bukti riset untuk kajian teknis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Rujukan yang dapat dipertanggungjawabkan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Pengetahuan terpelihara, tidak hilang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 dan penulis ditetapkan sebagai pengguna utama; dua kelompok lain dilayani setelahnya bila terjadi rebutan prioritas.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Pembangunan Sistem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Lima tahap; setiap tahap memberi manfaat yang dapat dinilai, bukan menunggu selesai seluruhnya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E8F0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2148840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8638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22199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8803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Fondasi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319272"/>
            <a:ext cx="1792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Jaminan sumber di kode; indeks rujukan peraturan dari naskah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07792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5F5F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4096" y="214884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05409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30752" y="222199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E8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054096" y="28803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054096" y="3319272"/>
            <a:ext cx="1792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Ekstraksi klaim terstruktur; celah riset; klasifikasi area kajian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75504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21808" y="2148840"/>
            <a:ext cx="566928" cy="566928"/>
          </a:xfrm>
          <a:prstGeom prst="ellipse">
            <a:avLst/>
          </a:prstGeom>
          <a:solidFill>
            <a:srgbClr val="C9D3C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2180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998464" y="222199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321808" y="28803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Perluasan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5321808" y="3319272"/>
            <a:ext cx="1792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Korpus literatur luar; peningkatan mesin pencarian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43216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0" y="2148840"/>
            <a:ext cx="566928" cy="566928"/>
          </a:xfrm>
          <a:prstGeom prst="ellipse">
            <a:avLst/>
          </a:prstGeom>
          <a:solidFill>
            <a:srgbClr val="C9D3C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895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66176" y="222199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28803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Normatif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3319272"/>
            <a:ext cx="1792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peraturan sampai tingkat pasal; penandaan status berlaku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710928" y="1965960"/>
            <a:ext cx="2084832" cy="3063240"/>
          </a:xfrm>
          <a:prstGeom prst="roundRect">
            <a:avLst>
              <a:gd name="adj" fmla="val 3509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57232" y="2148840"/>
            <a:ext cx="566928" cy="566928"/>
          </a:xfrm>
          <a:prstGeom prst="ellipse">
            <a:avLst/>
          </a:prstGeom>
          <a:solidFill>
            <a:srgbClr val="C9D3C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85723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33888" y="222199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857232" y="2880360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6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Layanan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9857232" y="3319272"/>
            <a:ext cx="17922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pengelola jurnal; dokumen internal unit kerja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 selesai. Tahap 2 sudah dimulai — panen celah riset telah menghasilkan 111 pernyataan dari 59 naskah.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Sampai Tujuan Tercapai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bahwa setiap tahap sudah benar-benar mencapai sasarannya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E8F0E0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5681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103120" y="19110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jawaban dapat ditelusuri sumbernya; peraturan yang lazim dirujuk per topik sudah terdaftar.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469880" y="195681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tercapai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79806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103120" y="27523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 dapat membandingkan temuan antar naskah dan melihat daftar celah riset beserta sumbernya.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469880" y="279806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46557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63931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35935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celah riset layak dikutip dalam naskah ilmiah karena cakupannya tidak lagi terbatas satu jurnal.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469880" y="363931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0682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10312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Sitasi peraturan tepat sampai tingkat pasal, disertai peringatan bila aturan sudah dicabut.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469880" y="44805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14807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3218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Tahap 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103120" y="5276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Redaksi terbantu pada penelaahan awal, dan unit kerja dapat memanfaatkan sistem untuk kajian teknis.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469880" y="532180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sasaran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 dan Pengendaliannya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789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utama sudah diidentifikasi sejak awal dan ditangani di dalam rancangan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7510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Jawaban tanpa sumber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134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 oleh program, bukan sekadar diberi peringatan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46520" y="18288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20840" y="197510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Mengarang nomor pasal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31343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Pemanenan berbasis pola; kutipan dicocokkan ke teks asli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320954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Merujuk aturan yang dicabut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5478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antar-edisi; penetapan status oleh kurator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46520" y="306324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320954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Klaim celah riset berlebihan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5478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Batas cakupan korpus wajib dinyatakan pada setiap keluaran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443984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Ketergantungan layanan luar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823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Pengolahan naskah dan indeks tetap di server internal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429768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5F5F0"/>
          </a:solidFill>
          <a:ln w="12700">
            <a:solidFill>
              <a:srgbClr val="F5F5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4443984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Ketentuan lisensi dokumen SNI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78231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63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Pembatasan akses; simpan metadata bila tidak berlisensi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996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juga menyatakan batasannya secara terbuka kepada pengguna, termasuk bahwa ia bukan pemberi nasihat hukum.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5212080"/>
            <a:ext cx="3108960" cy="31089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858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Diputuskan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898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hal yang memerlukan arahan pimpinan agar pengembangan dapat dilanjutkan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30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Arah pengembangan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21305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Persetujuan atas roadmap dan urutan prioritas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9992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Penanggung jawab kurasi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29992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Penetapan petugas yang berwenang atas status peraturan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886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867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Penyediaan teks peraturan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394960" y="38679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Kebijakan pengadaan, termasuk lisensi dokumen SNI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566928" cy="56692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736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Cakupan pengguna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47365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8D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Pemanfaatan oleh unit kerja di luar pengelola jurnal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0644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sudah berjalan dan sudah terbukti menjawab. Yang dibutuhkan sekarang adalah arahan untuk melanjutkan.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JP-Insight — Sistem Pengetahuan Jurnal Permukiman</dc:title>
  <dc:subject>PptxGenJS Presentation</dc:subject>
  <dc:creator>JP-Insight</dc:creator>
  <cp:lastModifiedBy>JP-Insight</cp:lastModifiedBy>
  <cp:revision>1</cp:revision>
  <dcterms:created xsi:type="dcterms:W3CDTF">2026-09-11T00:31:39Z</dcterms:created>
  <dcterms:modified xsi:type="dcterms:W3CDTF">2026-09-11T00:31:39Z</dcterms:modified>
</cp:coreProperties>
</file>